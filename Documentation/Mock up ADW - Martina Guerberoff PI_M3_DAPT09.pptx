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3012"/>
    <a:srgbClr val="B9270F"/>
    <a:srgbClr val="EF5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3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B262F-3AA7-BF7D-3E36-D415E2E07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F23BCF-0801-530A-FB33-1319BE276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9EC01-E176-91F1-8E58-7E684FE9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5AEE8A-A7C1-A962-C37A-19F291B2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7F3215-DCC3-F622-D446-C2DB66F1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030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3A0DC-439B-E141-4743-E99D24F7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2E194-702B-67F5-7AF6-245195AE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8F1AA0-0889-E1CC-176B-3A682CFA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A67408-AF3C-6CB4-B9EF-CF367EB5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E6ECDE-B654-40A7-6DA8-74F49E63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254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DD3C-55DE-5C1E-964A-9BBDF129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F15FE8-30B0-E815-430E-AA95F0D5F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42778-55C2-AB81-4265-87748035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614B7E-23F8-8D07-A18F-BCEB8975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AB6C33-21B6-745C-2D50-77A9BEF0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306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BF942-3BF7-C3D3-BFC9-B480C24B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FB7717-E533-82FD-2F36-99B541AD7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87A332-1C3D-5D9E-9A62-76D3455C2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CDEEE0-97EA-D058-0F11-7B55B23E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1F12EE-4278-06D3-2420-48E01C8C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8BA59D-83D6-4D0E-D8EF-4AD7E0FF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568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83215-7B53-2EFE-7B24-1465E11C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0CEB1-0360-C6A2-40FE-CD2B0731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3825BB-32C8-F457-FD19-CD5612DF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BA9588-0D22-CE0F-6466-4B8106641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14BFA9D-AE25-C3C6-465A-44F9460B0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0B13CC-0E0B-A77C-0E96-066635B5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DA6D708-5451-4E06-594B-0EF42F14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1695D7-FB31-F824-A302-0CD36B45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725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ACDC0-D65C-22EC-19EC-8872B430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3F8A52-5438-DF39-AB4F-D0BF5091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42B28F-B064-6EEC-2F61-2D987160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FE5E65-5C7B-E371-FEA4-83F94DBA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220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874A10-4F68-0583-AA2C-CE027CBD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74C32A-1F0E-B384-7470-6584E4B0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3B91D7-B8A0-92BD-4DF7-0B52C595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454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CF8D5-0132-EBC7-DBD2-B327B5EF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13137-4206-BB2A-35D2-A84106CF2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5C4703-19A3-8677-CDB0-5DE678AC1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3FB04E-76A6-5E6B-FB18-CEF6B380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7C25EC-371F-BA34-33F7-7105A6EB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1052BA-B8FB-288A-E9B6-5377376F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359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AACE3-39A0-FE29-F176-2BDD4DCD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79E4B0-A9FE-F1D9-5AC1-9E3288E0D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471DBF-A8C6-E195-41FA-066E2355E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B09EC7-21BD-E2D7-815D-D4E107E8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8B673E-2230-FBF8-991E-E0E756AB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DF8957-5453-7737-AD6B-1AF9AFD1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605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11A03-405A-E52C-5EFD-E4358221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338C2D-005C-ACFD-1D65-2E599DE31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052AFE-7B7E-1DC5-2BD6-793E7DA8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5FFA1-DE23-97BA-D18E-7386655E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410C78-74CE-C363-6106-5E1F964E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222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69D179-686D-8B36-A586-769C483D6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AED195-D761-665D-E750-605772193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1E94B4-684B-4A0F-8E7B-F7E6097E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E0A8F-B517-000D-C6AA-1B72D2F0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1B4B3-6488-51C4-A909-882CD010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752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B0BB0E-C1C3-8A43-7373-3DB1160D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50FD30-AF0D-66CB-8BF6-B2A4C8F32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2EF59B-2675-93D8-A07F-A7CFF4015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5F95F-EEF8-4416-9AD1-FB366C8CD0D2}" type="datetimeFigureOut">
              <a:rPr lang="es-AR" smtClean="0"/>
              <a:t>5/9/2025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55BBF4-8172-167F-89BF-B9D984ECE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EB5615-505F-051B-9200-DDF49C062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C0CEF-8957-4B4B-8361-A971E8AB81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4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27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88095-4512-9EB5-EF9C-4AFBA2EA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41">
            <a:extLst>
              <a:ext uri="{FF2B5EF4-FFF2-40B4-BE49-F238E27FC236}">
                <a16:creationId xmlns:a16="http://schemas.microsoft.com/office/drawing/2014/main" id="{2B79DF86-8EBC-B7AA-AF02-911844BFE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t="7835" r="7266" b="6124"/>
          <a:stretch>
            <a:fillRect/>
          </a:stretch>
        </p:blipFill>
        <p:spPr>
          <a:xfrm>
            <a:off x="90325" y="75376"/>
            <a:ext cx="3159061" cy="1909656"/>
          </a:xfrm>
          <a:prstGeom prst="snip1Rect">
            <a:avLst/>
          </a:prstGeom>
        </p:spPr>
      </p:pic>
      <p:sp>
        <p:nvSpPr>
          <p:cNvPr id="46" name="Rectángulo 45">
            <a:extLst>
              <a:ext uri="{FF2B5EF4-FFF2-40B4-BE49-F238E27FC236}">
                <a16:creationId xmlns:a16="http://schemas.microsoft.com/office/drawing/2014/main" id="{2D49E31F-54DB-C4A9-5C6B-749DC43836FD}"/>
              </a:ext>
            </a:extLst>
          </p:cNvPr>
          <p:cNvSpPr/>
          <p:nvPr/>
        </p:nvSpPr>
        <p:spPr>
          <a:xfrm>
            <a:off x="2622293" y="2531397"/>
            <a:ext cx="694741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ADVENTURE WORKS CYCLES </a:t>
            </a:r>
            <a:endParaRPr lang="es-MX" sz="32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s-ES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Visualizando el rendimiento de AWC </a:t>
            </a:r>
            <a:r>
              <a:rPr lang="es-MX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endParaRPr lang="es-AR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48" name="Gráfico 47" descr="Bar chart con relleno sólido">
            <a:extLst>
              <a:ext uri="{FF2B5EF4-FFF2-40B4-BE49-F238E27FC236}">
                <a16:creationId xmlns:a16="http://schemas.microsoft.com/office/drawing/2014/main" id="{4BE6FE88-83D2-9AC4-E7D4-572054A50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1923" y="3760"/>
            <a:ext cx="841580" cy="84158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FB8885C-3800-E374-37A9-3599BC1460A8}"/>
              </a:ext>
            </a:extLst>
          </p:cNvPr>
          <p:cNvSpPr/>
          <p:nvPr/>
        </p:nvSpPr>
        <p:spPr>
          <a:xfrm>
            <a:off x="3242443" y="3831785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Dashboard</a:t>
            </a:r>
            <a:r>
              <a:rPr lang="es-ES" dirty="0"/>
              <a:t> mundial</a:t>
            </a:r>
            <a:endParaRPr lang="es-AR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06E7A7D-A4AB-AF72-2D17-7E71C10B9C3F}"/>
              </a:ext>
            </a:extLst>
          </p:cNvPr>
          <p:cNvSpPr/>
          <p:nvPr/>
        </p:nvSpPr>
        <p:spPr>
          <a:xfrm>
            <a:off x="6269420" y="3831786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Dashboard</a:t>
            </a:r>
            <a:r>
              <a:rPr lang="es-ES" dirty="0"/>
              <a:t> EEUU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8679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2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D7199A6-C747-D14C-9ECF-454ADF57A60D}"/>
              </a:ext>
            </a:extLst>
          </p:cNvPr>
          <p:cNvSpPr/>
          <p:nvPr/>
        </p:nvSpPr>
        <p:spPr>
          <a:xfrm>
            <a:off x="1182414" y="867103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</a:t>
            </a:r>
            <a:endParaRPr lang="es-AR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D144720-10DF-7C24-2438-91C2F166030C}"/>
              </a:ext>
            </a:extLst>
          </p:cNvPr>
          <p:cNvSpPr/>
          <p:nvPr/>
        </p:nvSpPr>
        <p:spPr>
          <a:xfrm>
            <a:off x="3970939" y="867101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COGS</a:t>
            </a:r>
            <a:endParaRPr lang="es-AR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E406E8-7FDC-2313-CF73-78B0F7B65462}"/>
              </a:ext>
            </a:extLst>
          </p:cNvPr>
          <p:cNvSpPr/>
          <p:nvPr/>
        </p:nvSpPr>
        <p:spPr>
          <a:xfrm>
            <a:off x="6741399" y="867101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Utilidad bruta</a:t>
            </a:r>
            <a:endParaRPr lang="es-AR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D21225B-16B7-B1C0-76CF-9FF85184C9E3}"/>
              </a:ext>
            </a:extLst>
          </p:cNvPr>
          <p:cNvSpPr/>
          <p:nvPr/>
        </p:nvSpPr>
        <p:spPr>
          <a:xfrm>
            <a:off x="9511860" y="867101"/>
            <a:ext cx="2495059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Utilidad neta</a:t>
            </a:r>
            <a:endParaRPr lang="es-AR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8958347-1A93-4F1B-8629-39D6BCC42F5D}"/>
              </a:ext>
            </a:extLst>
          </p:cNvPr>
          <p:cNvSpPr/>
          <p:nvPr/>
        </p:nvSpPr>
        <p:spPr>
          <a:xfrm>
            <a:off x="1182414" y="1626554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Envio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B5B357F-7402-4678-7FE5-970EDDAEC5A9}"/>
              </a:ext>
            </a:extLst>
          </p:cNvPr>
          <p:cNvSpPr/>
          <p:nvPr/>
        </p:nvSpPr>
        <p:spPr>
          <a:xfrm>
            <a:off x="3970939" y="1626553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Impuestos</a:t>
            </a:r>
            <a:endParaRPr lang="es-AR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9A42BCE-75BA-F2F9-9E85-C6FB6609ACE5}"/>
              </a:ext>
            </a:extLst>
          </p:cNvPr>
          <p:cNvSpPr/>
          <p:nvPr/>
        </p:nvSpPr>
        <p:spPr>
          <a:xfrm>
            <a:off x="1182414" y="2419187"/>
            <a:ext cx="2680138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y costos por año (línea de tiempo)</a:t>
            </a:r>
            <a:endParaRPr lang="es-AR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ECCB061-EB46-37B8-B7B7-1965580F6D81}"/>
              </a:ext>
            </a:extLst>
          </p:cNvPr>
          <p:cNvSpPr/>
          <p:nvPr/>
        </p:nvSpPr>
        <p:spPr>
          <a:xfrm>
            <a:off x="3970939" y="2419187"/>
            <a:ext cx="2680138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y costos por año (barra)</a:t>
            </a:r>
            <a:endParaRPr lang="es-AR" dirty="0"/>
          </a:p>
          <a:p>
            <a:pPr algn="ctr"/>
            <a:endParaRPr lang="es-AR" dirty="0"/>
          </a:p>
        </p:txBody>
      </p:sp>
      <p:sp>
        <p:nvSpPr>
          <p:cNvPr id="16" name="Rectángulo: una sola esquina cortada 15">
            <a:extLst>
              <a:ext uri="{FF2B5EF4-FFF2-40B4-BE49-F238E27FC236}">
                <a16:creationId xmlns:a16="http://schemas.microsoft.com/office/drawing/2014/main" id="{BA5EAE06-84B5-A1AB-3B2D-168187264671}"/>
              </a:ext>
            </a:extLst>
          </p:cNvPr>
          <p:cNvSpPr/>
          <p:nvPr/>
        </p:nvSpPr>
        <p:spPr>
          <a:xfrm>
            <a:off x="90325" y="845340"/>
            <a:ext cx="1001766" cy="1427600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/>
              <a:t>Segmentador</a:t>
            </a:r>
            <a:r>
              <a:rPr lang="es-ES" sz="1000" b="1" dirty="0"/>
              <a:t> de </a:t>
            </a:r>
            <a:r>
              <a:rPr lang="es-ES" sz="1000" b="1" dirty="0" err="1"/>
              <a:t>paìses</a:t>
            </a:r>
            <a:endParaRPr lang="es-AR" sz="1000" b="1" dirty="0"/>
          </a:p>
        </p:txBody>
      </p:sp>
      <p:sp>
        <p:nvSpPr>
          <p:cNvPr id="17" name="Rectángulo: una sola esquina cortada 16">
            <a:extLst>
              <a:ext uri="{FF2B5EF4-FFF2-40B4-BE49-F238E27FC236}">
                <a16:creationId xmlns:a16="http://schemas.microsoft.com/office/drawing/2014/main" id="{4AAA60C1-985B-1209-4E43-1A05C5E6AC11}"/>
              </a:ext>
            </a:extLst>
          </p:cNvPr>
          <p:cNvSpPr/>
          <p:nvPr/>
        </p:nvSpPr>
        <p:spPr>
          <a:xfrm>
            <a:off x="90325" y="2386004"/>
            <a:ext cx="1001766" cy="1208534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Segmentador</a:t>
            </a:r>
            <a:r>
              <a:rPr lang="es-ES" sz="1200" dirty="0"/>
              <a:t> de años</a:t>
            </a:r>
            <a:endParaRPr lang="es-AR" sz="1200" dirty="0"/>
          </a:p>
        </p:txBody>
      </p:sp>
      <p:sp>
        <p:nvSpPr>
          <p:cNvPr id="18" name="Rectángulo: una sola esquina cortada 17">
            <a:extLst>
              <a:ext uri="{FF2B5EF4-FFF2-40B4-BE49-F238E27FC236}">
                <a16:creationId xmlns:a16="http://schemas.microsoft.com/office/drawing/2014/main" id="{92BC9F49-E57C-4E69-CF18-26E18E2A0243}"/>
              </a:ext>
            </a:extLst>
          </p:cNvPr>
          <p:cNvSpPr/>
          <p:nvPr/>
        </p:nvSpPr>
        <p:spPr>
          <a:xfrm>
            <a:off x="90325" y="3707601"/>
            <a:ext cx="1001766" cy="1731501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Indicadores</a:t>
            </a:r>
            <a:endParaRPr lang="es-AR" sz="1200" dirty="0"/>
          </a:p>
        </p:txBody>
      </p:sp>
      <p:sp>
        <p:nvSpPr>
          <p:cNvPr id="20" name="Rectángulo: una sola esquina cortada 19">
            <a:extLst>
              <a:ext uri="{FF2B5EF4-FFF2-40B4-BE49-F238E27FC236}">
                <a16:creationId xmlns:a16="http://schemas.microsoft.com/office/drawing/2014/main" id="{5CC47482-7AAF-0DF9-F110-09175E24C318}"/>
              </a:ext>
            </a:extLst>
          </p:cNvPr>
          <p:cNvSpPr/>
          <p:nvPr/>
        </p:nvSpPr>
        <p:spPr>
          <a:xfrm>
            <a:off x="90325" y="6211614"/>
            <a:ext cx="1001766" cy="511996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Subcategorías</a:t>
            </a:r>
            <a:endParaRPr lang="es-AR" sz="1200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D990008F-5BE4-CEAF-80D4-2956FCA501C4}"/>
              </a:ext>
            </a:extLst>
          </p:cNvPr>
          <p:cNvSpPr/>
          <p:nvPr/>
        </p:nvSpPr>
        <p:spPr>
          <a:xfrm>
            <a:off x="1182413" y="3707601"/>
            <a:ext cx="5468663" cy="173150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MAPA</a:t>
            </a:r>
            <a:endParaRPr lang="es-AR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77261E7-B1DC-7854-FE39-59ECCB2429FB}"/>
              </a:ext>
            </a:extLst>
          </p:cNvPr>
          <p:cNvSpPr/>
          <p:nvPr/>
        </p:nvSpPr>
        <p:spPr>
          <a:xfrm>
            <a:off x="6741397" y="3707601"/>
            <a:ext cx="3884561" cy="173150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por país (barra)</a:t>
            </a:r>
            <a:endParaRPr lang="es-AR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7F4BE4F-6F6D-4267-C7CF-49E63DA1385A}"/>
              </a:ext>
            </a:extLst>
          </p:cNvPr>
          <p:cNvSpPr/>
          <p:nvPr/>
        </p:nvSpPr>
        <p:spPr>
          <a:xfrm>
            <a:off x="1272735" y="5549459"/>
            <a:ext cx="3236203" cy="1175350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Indicadores por año</a:t>
            </a:r>
            <a:endParaRPr lang="es-AR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34545AA-015D-01D0-2674-83806C9D4AAF}"/>
              </a:ext>
            </a:extLst>
          </p:cNvPr>
          <p:cNvSpPr/>
          <p:nvPr/>
        </p:nvSpPr>
        <p:spPr>
          <a:xfrm>
            <a:off x="6741398" y="5548260"/>
            <a:ext cx="5360277" cy="1175350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Ingresos, COGS y utilidad bruta mensual</a:t>
            </a:r>
            <a:endParaRPr lang="es-AR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C672AE7-3907-6078-1C46-E92B1A68557C}"/>
              </a:ext>
            </a:extLst>
          </p:cNvPr>
          <p:cNvSpPr/>
          <p:nvPr/>
        </p:nvSpPr>
        <p:spPr>
          <a:xfrm>
            <a:off x="4644422" y="5548260"/>
            <a:ext cx="1961492" cy="1175350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acumulados por fecha</a:t>
            </a:r>
            <a:endParaRPr lang="es-AR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D7F9748-AAD9-6DAB-EF44-955F82319962}"/>
              </a:ext>
            </a:extLst>
          </p:cNvPr>
          <p:cNvSpPr/>
          <p:nvPr/>
        </p:nvSpPr>
        <p:spPr>
          <a:xfrm>
            <a:off x="10716279" y="4669297"/>
            <a:ext cx="1290640" cy="769806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Clientes únicos</a:t>
            </a:r>
            <a:endParaRPr lang="es-AR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FA977B3-EB87-2068-2E0E-48ECD1E1CBE9}"/>
              </a:ext>
            </a:extLst>
          </p:cNvPr>
          <p:cNvSpPr/>
          <p:nvPr/>
        </p:nvSpPr>
        <p:spPr>
          <a:xfrm>
            <a:off x="10716279" y="3707601"/>
            <a:ext cx="1290640" cy="769806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Cantidad vendida</a:t>
            </a:r>
            <a:endParaRPr lang="es-AR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D309902-1F21-7031-B7F7-0E8FF6ED85B0}"/>
              </a:ext>
            </a:extLst>
          </p:cNvPr>
          <p:cNvSpPr/>
          <p:nvPr/>
        </p:nvSpPr>
        <p:spPr>
          <a:xfrm>
            <a:off x="6849787" y="1622645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% U. B</a:t>
            </a:r>
            <a:endParaRPr lang="es-AR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8EEC2AA-24EA-DC16-504C-FAFADB65A672}"/>
              </a:ext>
            </a:extLst>
          </p:cNvPr>
          <p:cNvSpPr/>
          <p:nvPr/>
        </p:nvSpPr>
        <p:spPr>
          <a:xfrm>
            <a:off x="8183614" y="1603722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Tacómetro</a:t>
            </a:r>
            <a:endParaRPr lang="es-AR" sz="1600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7FFAE05-57ED-BF12-9C91-990B1BCE67E5}"/>
              </a:ext>
            </a:extLst>
          </p:cNvPr>
          <p:cNvSpPr/>
          <p:nvPr/>
        </p:nvSpPr>
        <p:spPr>
          <a:xfrm>
            <a:off x="9521546" y="1602076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% U. N</a:t>
            </a:r>
            <a:endParaRPr lang="es-AR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4089443B-EA7E-B207-B50B-77235ADBE645}"/>
              </a:ext>
            </a:extLst>
          </p:cNvPr>
          <p:cNvSpPr/>
          <p:nvPr/>
        </p:nvSpPr>
        <p:spPr>
          <a:xfrm>
            <a:off x="10880422" y="1617841"/>
            <a:ext cx="112649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Tacómetro</a:t>
            </a:r>
            <a:endParaRPr lang="es-AR" sz="1400" dirty="0"/>
          </a:p>
          <a:p>
            <a:pPr algn="ctr"/>
            <a:endParaRPr lang="es-AR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9CD8D4F0-5020-777C-C8C9-271A99064D6C}"/>
              </a:ext>
            </a:extLst>
          </p:cNvPr>
          <p:cNvSpPr/>
          <p:nvPr/>
        </p:nvSpPr>
        <p:spPr>
          <a:xfrm>
            <a:off x="6814150" y="2419183"/>
            <a:ext cx="1651933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Tacómetro</a:t>
            </a:r>
            <a:endParaRPr lang="es-AR" dirty="0"/>
          </a:p>
          <a:p>
            <a:pPr algn="ctr"/>
            <a:r>
              <a:rPr lang="es-AR" dirty="0"/>
              <a:t>costo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332407D2-5A5A-CD48-04A7-11F5610235C4}"/>
              </a:ext>
            </a:extLst>
          </p:cNvPr>
          <p:cNvSpPr/>
          <p:nvPr/>
        </p:nvSpPr>
        <p:spPr>
          <a:xfrm>
            <a:off x="10354986" y="2398239"/>
            <a:ext cx="1651933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Tacómetro costo operacional </a:t>
            </a:r>
            <a:endParaRPr lang="es-AR" dirty="0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8EA00E7-92C7-1FCA-A961-D02ED6D72149}"/>
              </a:ext>
            </a:extLst>
          </p:cNvPr>
          <p:cNvSpPr/>
          <p:nvPr/>
        </p:nvSpPr>
        <p:spPr>
          <a:xfrm>
            <a:off x="8595569" y="2419183"/>
            <a:ext cx="1651933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Tacómetro</a:t>
            </a:r>
            <a:endParaRPr lang="es-AR" dirty="0"/>
          </a:p>
          <a:p>
            <a:pPr algn="ctr"/>
            <a:r>
              <a:rPr lang="es-AR" dirty="0"/>
              <a:t>Ratio costo operacional </a:t>
            </a:r>
            <a:r>
              <a:rPr lang="es-AR" dirty="0" err="1"/>
              <a:t>ly</a:t>
            </a:r>
            <a:endParaRPr lang="es-AR" dirty="0"/>
          </a:p>
        </p:txBody>
      </p:sp>
      <p:sp>
        <p:nvSpPr>
          <p:cNvPr id="40" name="Rectángulo: una sola esquina cortada 39">
            <a:extLst>
              <a:ext uri="{FF2B5EF4-FFF2-40B4-BE49-F238E27FC236}">
                <a16:creationId xmlns:a16="http://schemas.microsoft.com/office/drawing/2014/main" id="{47ECF11D-F4EA-1B0F-CCF7-395BCAA37FC4}"/>
              </a:ext>
            </a:extLst>
          </p:cNvPr>
          <p:cNvSpPr/>
          <p:nvPr/>
        </p:nvSpPr>
        <p:spPr>
          <a:xfrm>
            <a:off x="90325" y="5548260"/>
            <a:ext cx="1001766" cy="511996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Categorías</a:t>
            </a:r>
            <a:endParaRPr lang="es-AR" sz="1200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4AF99752-2335-6B59-3313-EBE594A8F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t="7835" r="7266" b="6124"/>
          <a:stretch>
            <a:fillRect/>
          </a:stretch>
        </p:blipFill>
        <p:spPr>
          <a:xfrm>
            <a:off x="90325" y="75376"/>
            <a:ext cx="1122683" cy="678663"/>
          </a:xfrm>
          <a:prstGeom prst="snip1Rect">
            <a:avLst/>
          </a:prstGeom>
        </p:spPr>
      </p:pic>
      <p:sp>
        <p:nvSpPr>
          <p:cNvPr id="46" name="Rectángulo 45">
            <a:extLst>
              <a:ext uri="{FF2B5EF4-FFF2-40B4-BE49-F238E27FC236}">
                <a16:creationId xmlns:a16="http://schemas.microsoft.com/office/drawing/2014/main" id="{B8F65E4C-CD8A-64FE-DC78-58F21CBC3CBB}"/>
              </a:ext>
            </a:extLst>
          </p:cNvPr>
          <p:cNvSpPr/>
          <p:nvPr/>
        </p:nvSpPr>
        <p:spPr>
          <a:xfrm>
            <a:off x="1177640" y="186228"/>
            <a:ext cx="986917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ADVENTURE WORKS CYCLES - </a:t>
            </a:r>
            <a:r>
              <a:rPr lang="es-MX" sz="32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Dashboard</a:t>
            </a:r>
            <a:r>
              <a:rPr lang="es-MX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de Ventas</a:t>
            </a:r>
            <a:endParaRPr lang="es-AR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48" name="Gráfico 47" descr="Bar chart con relleno sólido">
            <a:extLst>
              <a:ext uri="{FF2B5EF4-FFF2-40B4-BE49-F238E27FC236}">
                <a16:creationId xmlns:a16="http://schemas.microsoft.com/office/drawing/2014/main" id="{613C1595-675F-BDB0-99ED-0FC9B5FB2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1923" y="3760"/>
            <a:ext cx="841580" cy="84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13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27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9B2A4-764C-8930-3314-CE7183E7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305E5EE-0D6A-DDB7-FF4C-BFC23C215938}"/>
              </a:ext>
            </a:extLst>
          </p:cNvPr>
          <p:cNvSpPr/>
          <p:nvPr/>
        </p:nvSpPr>
        <p:spPr>
          <a:xfrm>
            <a:off x="1182414" y="867103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EEUU</a:t>
            </a:r>
            <a:endParaRPr lang="es-AR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F9B181A-606D-13A1-0C2A-5E313A083992}"/>
              </a:ext>
            </a:extLst>
          </p:cNvPr>
          <p:cNvSpPr/>
          <p:nvPr/>
        </p:nvSpPr>
        <p:spPr>
          <a:xfrm>
            <a:off x="3970939" y="867101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COGS EEUU</a:t>
            </a:r>
            <a:endParaRPr lang="es-AR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319C31E-4127-71E4-B6DD-7700B469E047}"/>
              </a:ext>
            </a:extLst>
          </p:cNvPr>
          <p:cNvSpPr/>
          <p:nvPr/>
        </p:nvSpPr>
        <p:spPr>
          <a:xfrm>
            <a:off x="6741399" y="867101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D32ACEB-D0A6-831E-B0BE-BC7E41060185}"/>
              </a:ext>
            </a:extLst>
          </p:cNvPr>
          <p:cNvSpPr/>
          <p:nvPr/>
        </p:nvSpPr>
        <p:spPr>
          <a:xfrm>
            <a:off x="9511860" y="867101"/>
            <a:ext cx="2495059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B7C906E-B04D-8B92-321E-D86B50B063CA}"/>
              </a:ext>
            </a:extLst>
          </p:cNvPr>
          <p:cNvSpPr/>
          <p:nvPr/>
        </p:nvSpPr>
        <p:spPr>
          <a:xfrm>
            <a:off x="1182414" y="1626554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Envio</a:t>
            </a:r>
            <a:r>
              <a:rPr lang="es-ES" dirty="0"/>
              <a:t> EEUU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C4D0528-ACB5-5190-EFD6-174B126CCA48}"/>
              </a:ext>
            </a:extLst>
          </p:cNvPr>
          <p:cNvSpPr/>
          <p:nvPr/>
        </p:nvSpPr>
        <p:spPr>
          <a:xfrm>
            <a:off x="3970939" y="1626553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Impuestos EEUU</a:t>
            </a:r>
            <a:endParaRPr lang="es-AR" dirty="0"/>
          </a:p>
        </p:txBody>
      </p:sp>
      <p:sp>
        <p:nvSpPr>
          <p:cNvPr id="16" name="Rectángulo: una sola esquina cortada 15">
            <a:extLst>
              <a:ext uri="{FF2B5EF4-FFF2-40B4-BE49-F238E27FC236}">
                <a16:creationId xmlns:a16="http://schemas.microsoft.com/office/drawing/2014/main" id="{842207AC-49DE-C873-7BDF-BAD404AED124}"/>
              </a:ext>
            </a:extLst>
          </p:cNvPr>
          <p:cNvSpPr/>
          <p:nvPr/>
        </p:nvSpPr>
        <p:spPr>
          <a:xfrm>
            <a:off x="90325" y="845340"/>
            <a:ext cx="1001766" cy="1427600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 err="1"/>
              <a:t>Segmentador</a:t>
            </a:r>
            <a:r>
              <a:rPr lang="es-ES" sz="1050" dirty="0"/>
              <a:t> de años</a:t>
            </a:r>
            <a:endParaRPr lang="es-AR" sz="1050" dirty="0"/>
          </a:p>
        </p:txBody>
      </p:sp>
      <p:sp>
        <p:nvSpPr>
          <p:cNvPr id="17" name="Rectángulo: una sola esquina cortada 16">
            <a:extLst>
              <a:ext uri="{FF2B5EF4-FFF2-40B4-BE49-F238E27FC236}">
                <a16:creationId xmlns:a16="http://schemas.microsoft.com/office/drawing/2014/main" id="{FCF52B30-EDDC-64EA-9FE6-729C8D98A0FF}"/>
              </a:ext>
            </a:extLst>
          </p:cNvPr>
          <p:cNvSpPr/>
          <p:nvPr/>
        </p:nvSpPr>
        <p:spPr>
          <a:xfrm>
            <a:off x="90325" y="2386004"/>
            <a:ext cx="1001766" cy="1208534"/>
          </a:xfrm>
          <a:prstGeom prst="snip1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Categoría</a:t>
            </a:r>
            <a:br>
              <a:rPr lang="es-ES" sz="1000" dirty="0"/>
            </a:br>
            <a:r>
              <a:rPr lang="es-ES" sz="1000" dirty="0"/>
              <a:t>Subcategoría</a:t>
            </a:r>
            <a:endParaRPr lang="es-AR" sz="10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BC44419-CF77-3FB7-A104-BE90602BEFBD}"/>
              </a:ext>
            </a:extLst>
          </p:cNvPr>
          <p:cNvSpPr/>
          <p:nvPr/>
        </p:nvSpPr>
        <p:spPr>
          <a:xfrm>
            <a:off x="1227573" y="2343059"/>
            <a:ext cx="5406340" cy="4328713"/>
          </a:xfrm>
          <a:prstGeom prst="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Tabla de indicadores por provincia y ciudad de EEUU</a:t>
            </a:r>
            <a:endParaRPr lang="es-AR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1889FD3-331B-F89B-435B-C02A021B1CFD}"/>
              </a:ext>
            </a:extLst>
          </p:cNvPr>
          <p:cNvSpPr/>
          <p:nvPr/>
        </p:nvSpPr>
        <p:spPr>
          <a:xfrm>
            <a:off x="6849787" y="4771838"/>
            <a:ext cx="3397715" cy="1899934"/>
          </a:xfrm>
          <a:prstGeom prst="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Tabla de COGS y % de margen bruto por ciudad de EEUU</a:t>
            </a:r>
            <a:endParaRPr lang="es-AR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9FBE48B-D574-ED47-64AA-A83147987560}"/>
              </a:ext>
            </a:extLst>
          </p:cNvPr>
          <p:cNvSpPr/>
          <p:nvPr/>
        </p:nvSpPr>
        <p:spPr>
          <a:xfrm>
            <a:off x="10354985" y="5802669"/>
            <a:ext cx="1651933" cy="769806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Clientes únicos de EEUU</a:t>
            </a:r>
            <a:endParaRPr lang="es-AR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0D7FB81-4125-5BA6-73A9-4E073ED6E54E}"/>
              </a:ext>
            </a:extLst>
          </p:cNvPr>
          <p:cNvSpPr/>
          <p:nvPr/>
        </p:nvSpPr>
        <p:spPr>
          <a:xfrm>
            <a:off x="6849787" y="1622645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15A0AD5-0830-6EF2-CB0F-9FE82D61D21E}"/>
              </a:ext>
            </a:extLst>
          </p:cNvPr>
          <p:cNvSpPr/>
          <p:nvPr/>
        </p:nvSpPr>
        <p:spPr>
          <a:xfrm>
            <a:off x="8183614" y="1603722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156FBDE-3015-7192-9396-9B884A82B2BE}"/>
              </a:ext>
            </a:extLst>
          </p:cNvPr>
          <p:cNvSpPr/>
          <p:nvPr/>
        </p:nvSpPr>
        <p:spPr>
          <a:xfrm>
            <a:off x="9521546" y="1602076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4C3CFD62-DF70-2090-E907-F48CABAD1142}"/>
              </a:ext>
            </a:extLst>
          </p:cNvPr>
          <p:cNvSpPr/>
          <p:nvPr/>
        </p:nvSpPr>
        <p:spPr>
          <a:xfrm>
            <a:off x="10880422" y="1617841"/>
            <a:ext cx="112649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EAFE49BF-45C8-90F2-45AB-EC2AC2A5563C}"/>
              </a:ext>
            </a:extLst>
          </p:cNvPr>
          <p:cNvSpPr/>
          <p:nvPr/>
        </p:nvSpPr>
        <p:spPr>
          <a:xfrm>
            <a:off x="6849787" y="3512743"/>
            <a:ext cx="3397715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y COGS por año de EEUU (línea de tiempo)</a:t>
            </a:r>
            <a:endParaRPr lang="es-AR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1FAF1866-1082-DCAE-1108-B91562B50CF9}"/>
              </a:ext>
            </a:extLst>
          </p:cNvPr>
          <p:cNvSpPr/>
          <p:nvPr/>
        </p:nvSpPr>
        <p:spPr>
          <a:xfrm>
            <a:off x="10354986" y="2398239"/>
            <a:ext cx="1651933" cy="103076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acumulados por fechas de EEUU</a:t>
            </a:r>
            <a:endParaRPr lang="es-AR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9C0C370-75D5-9801-A9B0-B0AC3EED0BB5}"/>
              </a:ext>
            </a:extLst>
          </p:cNvPr>
          <p:cNvSpPr/>
          <p:nvPr/>
        </p:nvSpPr>
        <p:spPr>
          <a:xfrm>
            <a:off x="6849787" y="2427105"/>
            <a:ext cx="3397715" cy="1001895"/>
          </a:xfrm>
          <a:prstGeom prst="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Comparación anual del periodo actual y anterior de EEUU</a:t>
            </a:r>
            <a:endParaRPr lang="es-AR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1416C262-D4F5-E9D5-A3A8-EAB11C1F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t="7835" r="7266" b="6124"/>
          <a:stretch>
            <a:fillRect/>
          </a:stretch>
        </p:blipFill>
        <p:spPr>
          <a:xfrm>
            <a:off x="90326" y="75376"/>
            <a:ext cx="1001766" cy="678663"/>
          </a:xfrm>
          <a:prstGeom prst="snip1Rect">
            <a:avLst/>
          </a:prstGeom>
        </p:spPr>
      </p:pic>
      <p:sp>
        <p:nvSpPr>
          <p:cNvPr id="46" name="Rectángulo 45">
            <a:extLst>
              <a:ext uri="{FF2B5EF4-FFF2-40B4-BE49-F238E27FC236}">
                <a16:creationId xmlns:a16="http://schemas.microsoft.com/office/drawing/2014/main" id="{18539B42-F0B2-CF34-094B-7014582D7B32}"/>
              </a:ext>
            </a:extLst>
          </p:cNvPr>
          <p:cNvSpPr/>
          <p:nvPr/>
        </p:nvSpPr>
        <p:spPr>
          <a:xfrm>
            <a:off x="1934449" y="186228"/>
            <a:ext cx="83555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ADVENTURE WORKS CYCLES – Ventas EEUU</a:t>
            </a:r>
            <a:endParaRPr lang="es-AR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48" name="Gráfico 47" descr="Bar chart con relleno sólido">
            <a:extLst>
              <a:ext uri="{FF2B5EF4-FFF2-40B4-BE49-F238E27FC236}">
                <a16:creationId xmlns:a16="http://schemas.microsoft.com/office/drawing/2014/main" id="{BFE3330D-3FE3-250E-ECD0-058DB78CA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1923" y="3760"/>
            <a:ext cx="841580" cy="84158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56B418B-CE4C-20FF-3607-29A8E1F8286A}"/>
              </a:ext>
            </a:extLst>
          </p:cNvPr>
          <p:cNvSpPr/>
          <p:nvPr/>
        </p:nvSpPr>
        <p:spPr>
          <a:xfrm>
            <a:off x="10354985" y="4784103"/>
            <a:ext cx="1651933" cy="769806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Cantidad vendida de EEUU</a:t>
            </a:r>
            <a:endParaRPr lang="es-AR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AF1866-1082-DCAE-1108-B91562B50CF9}"/>
              </a:ext>
            </a:extLst>
          </p:cNvPr>
          <p:cNvSpPr/>
          <p:nvPr/>
        </p:nvSpPr>
        <p:spPr>
          <a:xfrm>
            <a:off x="10354986" y="3512742"/>
            <a:ext cx="1651933" cy="1175351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Ingresos y COGS por año de EEUU (barra)</a:t>
            </a:r>
            <a:endParaRPr lang="es-AR" dirty="0"/>
          </a:p>
          <a:p>
            <a:pPr algn="ctr"/>
            <a:r>
              <a:rPr lang="es-ES" dirty="0"/>
              <a:t> </a:t>
            </a:r>
            <a:endParaRPr lang="es-AR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64ACD19-935D-833D-DDC3-14CD1D018343}"/>
              </a:ext>
            </a:extLst>
          </p:cNvPr>
          <p:cNvSpPr/>
          <p:nvPr/>
        </p:nvSpPr>
        <p:spPr>
          <a:xfrm>
            <a:off x="6747641" y="871009"/>
            <a:ext cx="268013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Utilidad bruta EEUU</a:t>
            </a:r>
            <a:endParaRPr lang="es-AR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AD146F7-2ABF-CCC9-8E00-6F8BCA4231E4}"/>
              </a:ext>
            </a:extLst>
          </p:cNvPr>
          <p:cNvSpPr/>
          <p:nvPr/>
        </p:nvSpPr>
        <p:spPr>
          <a:xfrm>
            <a:off x="9518102" y="871009"/>
            <a:ext cx="2495059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Utilidad neta EEUU</a:t>
            </a:r>
            <a:endParaRPr lang="es-AR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27E8FE8-FB73-90F5-6F36-3A2908F24137}"/>
              </a:ext>
            </a:extLst>
          </p:cNvPr>
          <p:cNvSpPr/>
          <p:nvPr/>
        </p:nvSpPr>
        <p:spPr>
          <a:xfrm>
            <a:off x="6856029" y="1626553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% U. B EEUU</a:t>
            </a:r>
            <a:endParaRPr lang="es-AR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6C139FC-C977-A9F6-2FC6-F67B80A73991}"/>
              </a:ext>
            </a:extLst>
          </p:cNvPr>
          <p:cNvSpPr/>
          <p:nvPr/>
        </p:nvSpPr>
        <p:spPr>
          <a:xfrm>
            <a:off x="8189856" y="1607630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Tacómetro EEUU</a:t>
            </a:r>
            <a:endParaRPr lang="es-AR" sz="16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3E0308D-0AE7-14C6-E3C9-12D6CB9A8A14}"/>
              </a:ext>
            </a:extLst>
          </p:cNvPr>
          <p:cNvSpPr/>
          <p:nvPr/>
        </p:nvSpPr>
        <p:spPr>
          <a:xfrm>
            <a:off x="9527788" y="1605984"/>
            <a:ext cx="1237923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% U. N EEUU</a:t>
            </a:r>
            <a:endParaRPr lang="es-AR" dirty="0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23BE89DD-28C7-57BE-0816-EB06B6B21DB9}"/>
              </a:ext>
            </a:extLst>
          </p:cNvPr>
          <p:cNvSpPr/>
          <p:nvPr/>
        </p:nvSpPr>
        <p:spPr>
          <a:xfrm>
            <a:off x="10886664" y="1621749"/>
            <a:ext cx="1126498" cy="646387"/>
          </a:xfrm>
          <a:prstGeom prst="roundRect">
            <a:avLst/>
          </a:prstGeom>
          <a:solidFill>
            <a:srgbClr val="E430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Tacómetro</a:t>
            </a:r>
            <a:endParaRPr lang="es-AR" sz="1400" dirty="0"/>
          </a:p>
          <a:p>
            <a:pPr algn="ctr"/>
            <a:r>
              <a:rPr lang="es-AR" dirty="0"/>
              <a:t>EEUU</a:t>
            </a:r>
          </a:p>
        </p:txBody>
      </p:sp>
    </p:spTree>
    <p:extLst>
      <p:ext uri="{BB962C8B-B14F-4D97-AF65-F5344CB8AC3E}">
        <p14:creationId xmlns:p14="http://schemas.microsoft.com/office/powerpoint/2010/main" val="2614059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206</Words>
  <Application>Microsoft Office PowerPoint</Application>
  <PresentationFormat>Panorámica</PresentationFormat>
  <Paragraphs>57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Guerberoff</dc:creator>
  <cp:lastModifiedBy>Martina Guerberoff</cp:lastModifiedBy>
  <cp:revision>2</cp:revision>
  <dcterms:created xsi:type="dcterms:W3CDTF">2025-09-04T21:51:45Z</dcterms:created>
  <dcterms:modified xsi:type="dcterms:W3CDTF">2025-09-05T05:59:09Z</dcterms:modified>
</cp:coreProperties>
</file>